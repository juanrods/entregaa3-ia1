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 userDrawn="1">
          <p15:clr>
            <a:srgbClr val="A4A3A4"/>
          </p15:clr>
        </p15:guide>
        <p15:guide id="2" pos="102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 showGuides="1">
      <p:cViewPr>
        <p:scale>
          <a:sx n="20" d="100"/>
          <a:sy n="20" d="100"/>
        </p:scale>
        <p:origin x="3372" y="-444"/>
      </p:cViewPr>
      <p:guideLst>
        <p:guide orient="horz" pos="13608"/>
        <p:guide pos="10231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0B395-2DD1-4E0C-AD7F-C33E717CE14B}" type="datetimeFigureOut">
              <a:rPr lang="pt-BR" smtClean="0"/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66332-D461-43D9-A1C1-8FF0295CCEC5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ço Reservado para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520" indent="-1620520" algn="l" defTabSz="4320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280" indent="-1350010" algn="l" defTabSz="4320540" rtl="0" eaLnBrk="1" latinLnBrk="0" hangingPunct="1">
        <a:spcBef>
          <a:spcPct val="20000"/>
        </a:spcBef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hyperlink" Target="https://www.kaggle.com/datasets/jummyegg/rawg-game-dataset?resource=download" TargetMode="Externa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hyperlink" Target="https://pcs.usp.br/pcspf/wp-content/uploads/sites/8/2024/12/Monografia_PCS3560_SEM_2024_Grupo_S0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-33740" y="0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BR" dirty="0"/>
              <a:t>C:\Users\jj720\Downloads\A3_USAB2-main bruno\A3_USAB2-main\A3_USAB2-main\static\rf_mse.png</a:t>
            </a:r>
            <a:endParaRPr lang="en-US" alt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74034" y="4176148"/>
            <a:ext cx="30737703" cy="5790796"/>
          </a:xfrm>
        </p:spPr>
        <p:txBody>
          <a:bodyPr>
            <a:normAutofit/>
          </a:bodyPr>
          <a:lstStyle/>
          <a:p>
            <a:pPr hangingPunct="0"/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CHATBOT DE RECOMENDAÇÃO DE JOGOS</a:t>
            </a:r>
            <a:br>
              <a:rPr lang="pt-BR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Bruno Menezes, Diego Ferreira, Gustavo Burgos, Juan Rodrigues, Nicolle Nery; Adailton Cerqueira</a:t>
            </a:r>
            <a:b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Universidade Salvador – Salvador – BA – Brasil</a:t>
            </a:r>
            <a:br>
              <a:rPr lang="pt-BR" sz="9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73760" y="9966960"/>
            <a:ext cx="14785340" cy="17926685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  <a:endParaRPr lang="pt-BR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grande quantidade de títulos disponíveis no mercado de jogos digitais frequentemente dificulta a escolha por parte dos usuários. Para tornar esse processo mais eficiente, foi desenvolvido um 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capaz de conduzir o usuário por um fluxo estruturado de perguntas, identificando preferências relacionadas a tipo de experiência, gênero, plataforma, ano de lançamento, avaliação mínima, faixa etária e características adicionais.</a:t>
            </a:r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objetivo do </a:t>
            </a:r>
            <a:r>
              <a:rPr lang="pt-BR" sz="25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</a:t>
            </a:r>
            <a:r>
              <a:rPr lang="pt-BR" sz="2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tornar a navegação mais intuitiva, dinâmica, personalizada, reduzir o tempo de busca e aprimorar o processo de descoberta de jogos, simplificando a tomada de decisão ao oferecer recomendações mais precisas e alinhadas ao perfil do usuário. Além disso, visa melhorar a experiência de navegação no site de jogos.</a:t>
            </a:r>
            <a:endParaRPr lang="pt-BR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6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6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  <a:endParaRPr lang="pt-BR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projeto foi desenvolvido em Python usando Flask para gerenciar o servidor, receber mensagens e retornar respostas. Para an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lise e modelagem, foram utilizadas Pandas (tratamento dos dados), NumPy (opera</a:t>
            </a:r>
            <a:r>
              <a:rPr lang="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çõ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matem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ticas), Scikit-Learn (modelos de IA e m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tricas) e Matplotlib</a:t>
            </a:r>
            <a:r>
              <a:rPr lang="pt-BR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pt-BR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dataset empregado cont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metadados de jogos, incluindo 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tulo, g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nero, plataforma, ano, nota e popularidade. Os dados foram divididos em 80% para treino e 20% para teste. A partir desse conjunto, foi criado um score alvo, m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trica que combina a nota hist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rica (60%) e a popularidade (40%), definido pela f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rmula:</a:t>
            </a: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endParaRPr lang="en-US" altLang="pt-BR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Alvo = (0,6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Nota) + (0,4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Popularidade)</a:t>
            </a:r>
            <a:endParaRPr lang="en-US" altLang="pt-BR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endParaRPr lang="en-US" altLang="pt-BR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Foram treinados dois modelos de regress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supervisionada:</a:t>
            </a: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Forest, configurado com 200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rvores, cada uma gerando uma previs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posteriormente promediada.</a:t>
            </a: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 Neural MLP, que recebe os dados padronizados e ajusta seus pesos via retropropaga</a:t>
            </a:r>
            <a:r>
              <a:rPr lang="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o.</a:t>
            </a: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chatbot coleta prefer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ncias do usu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rio por meio de tags expl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citas (regex) e an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lise de palavras-chave, consolidando tudo em um dicion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rio de prefer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ncias. A filtragem dos jogos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feita sequencialmente com condicionais, aplicando cada crit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rio (g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nero, plataforma etc.) sobre o resultado do anterior. Caso um filtro elimine todos os jogos, entra em a</a:t>
            </a:r>
            <a:r>
              <a:rPr lang="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o Mecanismo de Relaxamento, que remove apenas o filtro que causou o bloqueio, evitando listas vazias.</a:t>
            </a: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gerar a recomenda</a:t>
            </a:r>
            <a:r>
              <a:rPr lang="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final, cada jogo recebe um Score Final, calculado por uma m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 ponderada entre nota hist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rica e as previs</a:t>
            </a:r>
            <a:r>
              <a:rPr lang="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dos dois modelos:</a:t>
            </a: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Final = (0,3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Score Hist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rico) + (0,4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Random Forest) + (0,3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pt-BR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Rede Neural)</a:t>
            </a:r>
            <a:endParaRPr lang="en-US" altLang="pt-BR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fim, matrizes de confus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mostraram que ambos os modelos classificam de forma consistente os jogos em “recomendar” ou “n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recomendar”, com pouqu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ssimos erros e alta concord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altLang="pt-B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ncia.</a:t>
            </a:r>
            <a:endParaRPr lang="en-US" alt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ubtítulo 2"/>
          <p:cNvSpPr txBox="1"/>
          <p:nvPr/>
        </p:nvSpPr>
        <p:spPr>
          <a:xfrm>
            <a:off x="16035133" y="9966944"/>
            <a:ext cx="15576604" cy="28053580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  <a:endParaRPr lang="pt-BR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O Random Forest consiste em um ensemble de 200 árvores independentes, seu treinamento é mais rápido, baseado em condicionais 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 e não exige padronização inicial dos dados. Tem uma alta transparência, fácil de entender a lógica de decisão. Possui baixo risco de 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, o uso de 200 árvores minimiza a chance de decorar padrões. Tem um papel principal no ranking pois possui um maior peso (40%). Atua como o preditor mais robusto e confiável para o score alvo.</a:t>
            </a: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Em jogos clássicos tende a ser preciso, sendo ótimo em generalizar padrões vistos, por exemplo, jogos de RPG dos anos 90. Em jogos inovadores pode ter dificuldade, se o jogo tiver características nunca vistas, a média das 200 árvores pode ser cautelosa. Em relação a base suja, é naturalmente resistente a dados faltantes ou ruidosos na entrada.</a:t>
            </a: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A Rede Neural é baseada em Neurônios Artificiais. Possui camadas (entrada, duas ocultas de 9 neurônios, e saída). Seu treinamento é mais lento. Baseado em pesos e ativações (Retropropagação). Exige padronização (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StandardScaler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). Sua transparência é baixa, as decisões são baseadas em pesos matemáticos, complexos difícil de interpretar diretamente. O risco de 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 é médio para alto pois é sensível a dados ruidosos e pode ter dificuldade em convergir se os </a:t>
            </a:r>
            <a:r>
              <a:rPr lang="pt-BR" sz="2500" dirty="0" err="1">
                <a:latin typeface="Arial" panose="020B0604020202020204" pitchFamily="34" charset="0"/>
                <a:cs typeface="Arial" panose="020B0604020202020204" pitchFamily="34" charset="0"/>
              </a:rPr>
              <a:t>hiperparâmetros</a:t>
            </a: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 não forem bons. Seu papel no ranking é de apoio pois possui um menor peso (30%). Atua como um preditor complementar, capturando padrões não lineares.</a:t>
            </a: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Em jogos clássicos tende a ser estável. A rede neural é menos afetada por outliers na nota e popularidade. Em jogos inovadores tende a ser melhor. A natureza não linear da rede a permite capturar relações inéditas, como por exemplo, a combinação de "Puzzle" com "Terror". Em relação a base suja, , é sensível. A MLP exige dados limpos e padronizados, caso contrário, o treinamento pode falhar ou gerar previsões ruins.</a:t>
            </a: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Em relação a implicação para a recomendação, 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2800" dirty="0"/>
              <a:t> Rede Neural adiciona a capacidade de prever o sucesso de novos formatos e o Random Forest atua como uma rede de segurança contra imperfeições nos dados de entrada.</a:t>
            </a: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O Random Forest atua como a inteligência conservadora e sólida, focada em não errar, enquanto a Rede Neural atua como a inteligência não linear e inovadora, focada em capturar relações que o Random Forest pode ignorar.</a:t>
            </a: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800" dirty="0"/>
          </a:p>
          <a:p>
            <a:pPr algn="just">
              <a:spcBef>
                <a:spcPts val="0"/>
              </a:spcBef>
            </a:pPr>
            <a:r>
              <a:rPr lang="pt-BR" sz="2800" dirty="0"/>
              <a:t>Essa combinação (40% RF + 30% RN + 30% Histórico) garante que o score final​ seja o mais equilibrado e preciso possível.</a:t>
            </a:r>
            <a:endParaRPr lang="pt-BR" sz="2800" dirty="0"/>
          </a:p>
          <a:p>
            <a:pPr algn="just">
              <a:spcBef>
                <a:spcPts val="0"/>
              </a:spcBef>
            </a:pPr>
            <a:endParaRPr 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000" b="1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  <a:endParaRPr lang="pt-BR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O chatbot desenvolvido mostrou-se eficiente ao guiar o usu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rio em um fluxo estruturado de prefer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ê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ncias e gerar recomenda</a:t>
            </a:r>
            <a:r>
              <a:rPr lang="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çõ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es personalizadas, utilizando filtros inteligentes e relaxamento progressivo para evitar resultados vazios. A combina</a:t>
            </a:r>
            <a:r>
              <a:rPr lang="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o entre Random Forest e Rede Neural MLP se mostrou complementar: o Random Forest forneceu previs</a:t>
            </a:r>
            <a:r>
              <a:rPr lang="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es mais est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veis e robustas, enquanto a Rede Neural capturou padr</a:t>
            </a:r>
            <a:r>
              <a:rPr lang="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es 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o lineares e caracter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í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sticas in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ditas dos jogos. A m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dia ponderada entre hist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rico e modelos garantiu um score equilibrado, resultando em recomenda</a:t>
            </a:r>
            <a:r>
              <a:rPr lang="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çõ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es consistentes e alinhadas ao perfil do usu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rio, contribuindo para uma navega</a:t>
            </a:r>
            <a:r>
              <a:rPr lang="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ç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ã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o mais intuitiva e r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pida no cat</a:t>
            </a:r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altLang="pt-BR" sz="2500" dirty="0">
                <a:latin typeface="Arial" panose="020B0604020202020204" pitchFamily="34" charset="0"/>
                <a:cs typeface="Arial" panose="020B0604020202020204" pitchFamily="34" charset="0"/>
              </a:rPr>
              <a:t>logo.</a:t>
            </a:r>
            <a:endParaRPr lang="en-US" altLang="pt-BR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/>
          <p:nvPr/>
        </p:nvSpPr>
        <p:spPr>
          <a:xfrm>
            <a:off x="874033" y="38020524"/>
            <a:ext cx="30737703" cy="4391212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REFERÊNCIAS BIBLIOGRÁFICAS</a:t>
            </a:r>
            <a:endParaRPr lang="pt-BR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just">
              <a:spcBef>
                <a:spcPts val="0"/>
              </a:spcBef>
              <a:buAutoNum type="arabicPeriod"/>
            </a:pP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ISHICAVA, Leonardo 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Ihara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ITO, Nicholas 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Yassuo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INOUE, Ricardo 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Seiki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Matsuda. </a:t>
            </a:r>
            <a:r>
              <a:rPr lang="pt-BR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e aplicação de inteligência artificial no desenvolvimento de um algoritmo de recomendação de conteúdo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Monografia (Engenheiro Eletricista) – Escola Politécnica, Universidade de São Paulo. São Paulo, p. 134. 2025. Disponível em: 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https://pcs.usp.br/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pcspf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/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wp-content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1"/>
              </a:rPr>
              <a:t>/uploads/sites/8/2024/12/Monografia_PCS3560_SEM_2024_Grupo_S08.pdf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Acesso em: 15 nov. 2025.</a:t>
            </a:r>
            <a:endParaRPr lang="pt-BR" sz="3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3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HOANG, 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3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  <a:r>
              <a:rPr lang="pt-BR" sz="3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Game </a:t>
            </a:r>
            <a:r>
              <a:rPr lang="pt-BR" sz="3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2020. Disponível em: 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https://www.kaggle.com/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datasets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jummyegg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/</a:t>
            </a:r>
            <a:r>
              <a:rPr lang="pt-BR" sz="3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rawg-game-dataset?resource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=download</a:t>
            </a:r>
            <a:r>
              <a:rPr lang="pt-BR" sz="3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Acesso em: 15 nov. 2025.</a:t>
            </a:r>
            <a:endParaRPr lang="pt-BR" sz="30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Imagem 6" descr="Diagrama&#10;&#10;O conteúdo gerado por IA pode estar incorret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0085" y="34276030"/>
            <a:ext cx="6964680" cy="512318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790" y="30747970"/>
            <a:ext cx="6677025" cy="507682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625" y="30747970"/>
            <a:ext cx="6686550" cy="5077460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65380" y="10081260"/>
            <a:ext cx="5956935" cy="4874895"/>
          </a:xfrm>
          <a:prstGeom prst="rect">
            <a:avLst/>
          </a:prstGeom>
        </p:spPr>
      </p:pic>
      <p:pic>
        <p:nvPicPr>
          <p:cNvPr id="21" name="Imagem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89680" y="13970000"/>
            <a:ext cx="5203190" cy="1590040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02475" y="10153650"/>
            <a:ext cx="5462905" cy="46393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6563</Words>
  <Application>WPS Presentation</Application>
  <PresentationFormat>Personalizar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Microsoft YaHei</vt:lpstr>
      <vt:lpstr>Arial Unicode MS</vt:lpstr>
      <vt:lpstr>Calibri</vt:lpstr>
      <vt:lpstr>Algerian</vt:lpstr>
      <vt:lpstr>Tema do Office</vt:lpstr>
      <vt:lpstr>CHATBOT DE RECOMENDAÇÃO DE JOGOS  Bruno Menezes, Diego Ferreira, Gustavo Burgos, Juan Rodrigues, Nicolle Nery; Adailton Cerqueira  Universidade Salvador – Salvador – BA – Brasil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Juan Rodrigues</cp:lastModifiedBy>
  <cp:revision>156</cp:revision>
  <dcterms:created xsi:type="dcterms:W3CDTF">2011-04-07T11:05:00Z</dcterms:created>
  <dcterms:modified xsi:type="dcterms:W3CDTF">2025-11-22T00:47:54Z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9AEED7FAAF2D45D29968C5A334BA8BE7_13</vt:lpwstr>
  </property>
  <property fmtid="{D5CDD505-2E9C-101B-9397-08002B2CF9AE}" pid="3" name="KSOProductBuildVer">
    <vt:lpwstr>1046-12.2.0.23155</vt:lpwstr>
  </property>
</Properties>
</file>